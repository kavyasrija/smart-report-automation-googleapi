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496" userDrawn="1">
          <p15:clr>
            <a:srgbClr val="A4A3A4"/>
          </p15:clr>
        </p15:guide>
        <p15:guide id="2" pos="268" userDrawn="1">
          <p15:clr>
            <a:srgbClr val="A4A3A4"/>
          </p15:clr>
        </p15:guide>
        <p15:guide id="3" pos="1132" userDrawn="1">
          <p15:clr>
            <a:srgbClr val="A4A3A4"/>
          </p15:clr>
        </p15:guide>
        <p15:guide id="4" orient="horz" pos="2600" userDrawn="1">
          <p15:clr>
            <a:srgbClr val="A4A3A4"/>
          </p15:clr>
        </p15:guide>
        <p15:guide id="5" pos="1084" userDrawn="1">
          <p15:clr>
            <a:srgbClr val="A4A3A4"/>
          </p15:clr>
        </p15:guide>
        <p15:guide id="6" pos="4492" userDrawn="1">
          <p15:clr>
            <a:srgbClr val="A4A3A4"/>
          </p15:clr>
        </p15:guide>
        <p15:guide id="7" orient="horz" pos="44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6AA"/>
    <a:srgbClr val="CC1E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66" autoAdjust="0"/>
    <p:restoredTop sz="94654"/>
  </p:normalViewPr>
  <p:slideViewPr>
    <p:cSldViewPr>
      <p:cViewPr varScale="1">
        <p:scale>
          <a:sx n="39" d="100"/>
          <a:sy n="39" d="100"/>
        </p:scale>
        <p:origin x="2392" y="56"/>
      </p:cViewPr>
      <p:guideLst>
        <p:guide orient="horz" pos="1496"/>
        <p:guide pos="268"/>
        <p:guide pos="1132"/>
        <p:guide orient="horz" pos="2600"/>
        <p:guide pos="1084"/>
        <p:guide pos="4492"/>
        <p:guide orient="horz" pos="447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513E0-6900-4076-AD50-444ACD51D902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B1E70-7B5F-4686-8D0E-8B1ADDEF8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85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M Sans 14pt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DM Sans 14pt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DM Sans 14pt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DM Sans 14pt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DM Sans 14pt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DM Sans 14pt" pitchFamily="2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DM Sans 14pt" pitchFamily="2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DM Sans 14pt Medium"/>
                <a:cs typeface="DM Sans 14pt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letsmoderate.com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>
                <a:latin typeface="DM Sans 14pt" pitchFamily="2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>
                <a:latin typeface="DM Sans 14pt" pitchFamily="2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DM Sans 14pt Medium"/>
                <a:cs typeface="DM Sans 14pt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letsmoderate.com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>
                <a:latin typeface="DM Sans 14pt" pitchFamily="2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DM Sans 14pt" pitchFamily="2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DM Sans 14pt" pitchFamily="2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DM Sans 14pt Medium"/>
                <a:cs typeface="DM Sans 14pt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letsmoderate.com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>
                <a:latin typeface="DM Sans 14pt" pitchFamily="2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DM Sans 14pt Medium"/>
                <a:cs typeface="DM Sans 14pt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letsmoderate.com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DM Sans 14pt Medium"/>
                <a:cs typeface="DM Sans 14pt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letsmoderate.com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18643" y="10247990"/>
            <a:ext cx="1342389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DM Sans 14pt Medium"/>
                <a:cs typeface="DM Sans 14pt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letsmoderate.com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DM Sans 14pt" pitchFamily="2" charset="0"/>
          <a:ea typeface="+mj-ea"/>
          <a:cs typeface="+mj-cs"/>
        </a:defRPr>
      </a:lvl1pPr>
    </p:titleStyle>
    <p:bodyStyle>
      <a:lvl1pPr marL="0">
        <a:defRPr>
          <a:latin typeface="DM Sans 14pt" pitchFamily="2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F4C8309-0F69-435A-BF83-47011163E752}"/>
              </a:ext>
            </a:extLst>
          </p:cNvPr>
          <p:cNvSpPr/>
          <p:nvPr/>
        </p:nvSpPr>
        <p:spPr>
          <a:xfrm>
            <a:off x="425450" y="5066914"/>
            <a:ext cx="6781800" cy="21990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7ABCE41-3396-F1DF-B4D4-CFA62A5C723C}"/>
              </a:ext>
            </a:extLst>
          </p:cNvPr>
          <p:cNvSpPr/>
          <p:nvPr/>
        </p:nvSpPr>
        <p:spPr>
          <a:xfrm>
            <a:off x="425450" y="2810123"/>
            <a:ext cx="6781800" cy="21990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bject 60"/>
          <p:cNvSpPr txBox="1"/>
          <p:nvPr/>
        </p:nvSpPr>
        <p:spPr>
          <a:xfrm>
            <a:off x="671911" y="3843485"/>
            <a:ext cx="310634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Genetic screening helps identify variations that increase the risk of kidney damage in diabetes, enabling early interventions to protect kidney health.</a:t>
            </a:r>
            <a:endParaRPr sz="13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2A716389-E25E-1356-A031-4E1AF1E430F1}"/>
              </a:ext>
            </a:extLst>
          </p:cNvPr>
          <p:cNvSpPr txBox="1"/>
          <p:nvPr/>
        </p:nvSpPr>
        <p:spPr>
          <a:xfrm>
            <a:off x="3816350" y="9477194"/>
            <a:ext cx="3390900" cy="2814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5"/>
              </a:spcBef>
            </a:pPr>
            <a:endParaRPr sz="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b="1" i="1" spc="-10" dirty="0">
                <a:solidFill>
                  <a:srgbClr val="808184"/>
                </a:solidFill>
                <a:latin typeface="Arial"/>
                <a:cs typeface="Arial"/>
              </a:rPr>
              <a:t>Findings</a:t>
            </a:r>
            <a:r>
              <a:rPr sz="800" b="1" i="1" spc="75" dirty="0">
                <a:solidFill>
                  <a:srgbClr val="808184"/>
                </a:solidFill>
                <a:latin typeface="Arial"/>
                <a:cs typeface="Arial"/>
              </a:rPr>
              <a:t> </a:t>
            </a:r>
            <a:r>
              <a:rPr sz="800" b="1" i="1" dirty="0">
                <a:solidFill>
                  <a:srgbClr val="808184"/>
                </a:solidFill>
                <a:latin typeface="Arial"/>
                <a:cs typeface="Arial"/>
              </a:rPr>
              <a:t>are</a:t>
            </a:r>
            <a:r>
              <a:rPr sz="800" b="1" i="1" spc="75" dirty="0">
                <a:solidFill>
                  <a:srgbClr val="808184"/>
                </a:solidFill>
                <a:latin typeface="Arial"/>
                <a:cs typeface="Arial"/>
              </a:rPr>
              <a:t> </a:t>
            </a:r>
            <a:r>
              <a:rPr sz="800" b="1" i="1" dirty="0">
                <a:solidFill>
                  <a:srgbClr val="808184"/>
                </a:solidFill>
                <a:latin typeface="Arial"/>
                <a:cs typeface="Arial"/>
              </a:rPr>
              <a:t>statistically</a:t>
            </a:r>
            <a:r>
              <a:rPr sz="800" b="1" i="1" spc="75" dirty="0">
                <a:solidFill>
                  <a:srgbClr val="808184"/>
                </a:solidFill>
                <a:latin typeface="Arial"/>
                <a:cs typeface="Arial"/>
              </a:rPr>
              <a:t> </a:t>
            </a:r>
            <a:r>
              <a:rPr sz="800" b="1" i="1" dirty="0">
                <a:solidFill>
                  <a:srgbClr val="808184"/>
                </a:solidFill>
                <a:latin typeface="Arial"/>
                <a:cs typeface="Arial"/>
              </a:rPr>
              <a:t>significant</a:t>
            </a:r>
            <a:r>
              <a:rPr sz="800" b="1" i="1" spc="75" dirty="0">
                <a:solidFill>
                  <a:srgbClr val="808184"/>
                </a:solidFill>
                <a:latin typeface="Arial"/>
                <a:cs typeface="Arial"/>
              </a:rPr>
              <a:t> </a:t>
            </a:r>
            <a:r>
              <a:rPr sz="800" b="1" i="1" spc="55" dirty="0">
                <a:solidFill>
                  <a:srgbClr val="808184"/>
                </a:solidFill>
                <a:latin typeface="Arial"/>
                <a:cs typeface="Arial"/>
              </a:rPr>
              <a:t>at</a:t>
            </a:r>
            <a:r>
              <a:rPr sz="800" b="1" i="1" spc="80" dirty="0">
                <a:solidFill>
                  <a:srgbClr val="808184"/>
                </a:solidFill>
                <a:latin typeface="Arial"/>
                <a:cs typeface="Arial"/>
              </a:rPr>
              <a:t> </a:t>
            </a:r>
            <a:r>
              <a:rPr sz="800" b="1" i="1" dirty="0">
                <a:solidFill>
                  <a:srgbClr val="808184"/>
                </a:solidFill>
                <a:latin typeface="Arial"/>
                <a:cs typeface="Arial"/>
              </a:rPr>
              <a:t>a</a:t>
            </a:r>
            <a:r>
              <a:rPr sz="800" b="1" i="1" spc="75" dirty="0">
                <a:solidFill>
                  <a:srgbClr val="808184"/>
                </a:solidFill>
                <a:latin typeface="Arial"/>
                <a:cs typeface="Arial"/>
              </a:rPr>
              <a:t> </a:t>
            </a:r>
            <a:r>
              <a:rPr sz="800" b="1" i="1" dirty="0">
                <a:solidFill>
                  <a:srgbClr val="808184"/>
                </a:solidFill>
                <a:latin typeface="Arial"/>
                <a:cs typeface="Arial"/>
              </a:rPr>
              <a:t>95%</a:t>
            </a:r>
            <a:r>
              <a:rPr sz="800" b="1" i="1" spc="75" dirty="0">
                <a:solidFill>
                  <a:srgbClr val="808184"/>
                </a:solidFill>
                <a:latin typeface="Arial"/>
                <a:cs typeface="Arial"/>
              </a:rPr>
              <a:t> </a:t>
            </a:r>
            <a:r>
              <a:rPr sz="800" b="1" i="1" dirty="0">
                <a:solidFill>
                  <a:srgbClr val="808184"/>
                </a:solidFill>
                <a:latin typeface="Arial"/>
                <a:cs typeface="Arial"/>
              </a:rPr>
              <a:t>confidence</a:t>
            </a:r>
            <a:r>
              <a:rPr sz="800" b="1" i="1" spc="75" dirty="0">
                <a:solidFill>
                  <a:srgbClr val="808184"/>
                </a:solidFill>
                <a:latin typeface="Arial"/>
                <a:cs typeface="Arial"/>
              </a:rPr>
              <a:t> </a:t>
            </a:r>
            <a:r>
              <a:rPr sz="800" b="1" i="1" spc="-20" dirty="0">
                <a:solidFill>
                  <a:srgbClr val="808184"/>
                </a:solidFill>
                <a:latin typeface="Arial"/>
                <a:cs typeface="Arial"/>
              </a:rPr>
              <a:t>level</a:t>
            </a:r>
            <a:endParaRPr sz="800" dirty="0">
              <a:latin typeface="Arial"/>
              <a:cs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D87B19-B87A-CBCA-13C1-2C87B68FBC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692"/>
          <a:stretch/>
        </p:blipFill>
        <p:spPr>
          <a:xfrm>
            <a:off x="4079504" y="3691555"/>
            <a:ext cx="2595600" cy="12645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352DEC-C628-FA3D-7A26-15BE105A9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782" b="-6698"/>
          <a:stretch/>
        </p:blipFill>
        <p:spPr>
          <a:xfrm>
            <a:off x="4079504" y="5920145"/>
            <a:ext cx="2595600" cy="13457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858AF4-6F4C-0E10-B54B-98841BA71D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3689"/>
          <a:stretch/>
        </p:blipFill>
        <p:spPr>
          <a:xfrm>
            <a:off x="3625850" y="1136409"/>
            <a:ext cx="2595600" cy="12984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190F6A5-744B-A46E-842C-CBB705036EB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3689" b="-8169"/>
          <a:stretch/>
        </p:blipFill>
        <p:spPr>
          <a:xfrm>
            <a:off x="425450" y="1128544"/>
            <a:ext cx="2595600" cy="14044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6BB69C-4F3D-DE28-9A45-74E8F27DF1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5915" y="5218900"/>
            <a:ext cx="813600" cy="813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2D33C57-A38F-7224-E022-6D53DF307355}"/>
              </a:ext>
            </a:extLst>
          </p:cNvPr>
          <p:cNvSpPr txBox="1"/>
          <p:nvPr/>
        </p:nvSpPr>
        <p:spPr>
          <a:xfrm>
            <a:off x="610263" y="3080713"/>
            <a:ext cx="16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spc="-10" dirty="0">
                <a:solidFill>
                  <a:srgbClr val="262261"/>
                </a:solidFill>
                <a:latin typeface="DM Sans 14pt"/>
                <a:cs typeface="DM Sans 14pt"/>
              </a:rPr>
              <a:t>Diabetic</a:t>
            </a:r>
          </a:p>
          <a:p>
            <a:r>
              <a:rPr lang="en-IN" sz="1800" b="1" spc="-10" dirty="0">
                <a:solidFill>
                  <a:srgbClr val="262261"/>
                </a:solidFill>
                <a:latin typeface="DM Sans 14pt"/>
                <a:cs typeface="DM Sans 14pt"/>
              </a:rPr>
              <a:t>Nephropathy 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42936B-E0A0-69A2-58EF-8EF1C8242896}"/>
              </a:ext>
            </a:extLst>
          </p:cNvPr>
          <p:cNvSpPr txBox="1"/>
          <p:nvPr/>
        </p:nvSpPr>
        <p:spPr>
          <a:xfrm>
            <a:off x="5946393" y="3142268"/>
            <a:ext cx="992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spc="-10" dirty="0">
                <a:solidFill>
                  <a:srgbClr val="2BA8DA"/>
                </a:solidFill>
                <a:latin typeface="DM Sans 14pt"/>
                <a:cs typeface="DM Sans 14pt"/>
              </a:rPr>
              <a:t>Low</a:t>
            </a:r>
            <a:endParaRPr lang="en-US" sz="2800" dirty="0">
              <a:solidFill>
                <a:srgbClr val="2BA8DA"/>
              </a:solidFill>
            </a:endParaRPr>
          </a:p>
        </p:txBody>
      </p:sp>
      <p:sp>
        <p:nvSpPr>
          <p:cNvPr id="30" name="object 60">
            <a:extLst>
              <a:ext uri="{FF2B5EF4-FFF2-40B4-BE49-F238E27FC236}">
                <a16:creationId xmlns:a16="http://schemas.microsoft.com/office/drawing/2014/main" id="{187F9672-98E1-EB94-C26B-24AE6B831599}"/>
              </a:ext>
            </a:extLst>
          </p:cNvPr>
          <p:cNvSpPr txBox="1"/>
          <p:nvPr/>
        </p:nvSpPr>
        <p:spPr>
          <a:xfrm>
            <a:off x="671911" y="6100276"/>
            <a:ext cx="310634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Screening for genetic markers can reveal predispositions to nerve damage, allowing better management and prevention of complications like pain or loss of sensation.</a:t>
            </a:r>
            <a:endParaRPr sz="13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4BA41E-6A6E-0210-5274-BBAEEB315313}"/>
              </a:ext>
            </a:extLst>
          </p:cNvPr>
          <p:cNvSpPr txBox="1"/>
          <p:nvPr/>
        </p:nvSpPr>
        <p:spPr>
          <a:xfrm>
            <a:off x="610263" y="5376682"/>
            <a:ext cx="16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spc="-10" dirty="0">
                <a:solidFill>
                  <a:srgbClr val="262261"/>
                </a:solidFill>
                <a:latin typeface="DM Sans 14pt"/>
                <a:cs typeface="DM Sans 14pt"/>
              </a:rPr>
              <a:t>Diabetic Neuropathy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216066-3BE9-4089-E1E3-B24E175CAD0B}"/>
              </a:ext>
            </a:extLst>
          </p:cNvPr>
          <p:cNvSpPr txBox="1"/>
          <p:nvPr/>
        </p:nvSpPr>
        <p:spPr>
          <a:xfrm>
            <a:off x="5946393" y="5364090"/>
            <a:ext cx="992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spc="-10" dirty="0">
                <a:solidFill>
                  <a:srgbClr val="2BA8DA"/>
                </a:solidFill>
                <a:latin typeface="DM Sans 14pt"/>
                <a:cs typeface="DM Sans 14pt"/>
              </a:rPr>
              <a:t>Mild</a:t>
            </a:r>
            <a:endParaRPr lang="en-US" sz="2800" dirty="0">
              <a:solidFill>
                <a:srgbClr val="2BA8DA"/>
              </a:solidFill>
            </a:endParaRPr>
          </a:p>
        </p:txBody>
      </p:sp>
      <p:sp>
        <p:nvSpPr>
          <p:cNvPr id="38" name="object 60">
            <a:extLst>
              <a:ext uri="{FF2B5EF4-FFF2-40B4-BE49-F238E27FC236}">
                <a16:creationId xmlns:a16="http://schemas.microsoft.com/office/drawing/2014/main" id="{E8F55A71-4E2B-5130-A0FB-A7577788B5BC}"/>
              </a:ext>
            </a:extLst>
          </p:cNvPr>
          <p:cNvSpPr txBox="1"/>
          <p:nvPr/>
        </p:nvSpPr>
        <p:spPr>
          <a:xfrm>
            <a:off x="671911" y="8361262"/>
            <a:ext cx="310634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Genetic testing detects risk factors for vision-threatening eye damage in diabetes, supporting timely monitoring and treatment to preserve sight.</a:t>
            </a:r>
            <a:endParaRPr sz="13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F11244-AF7F-5533-8B2A-B63C799D4BFB}"/>
              </a:ext>
            </a:extLst>
          </p:cNvPr>
          <p:cNvSpPr txBox="1"/>
          <p:nvPr/>
        </p:nvSpPr>
        <p:spPr>
          <a:xfrm>
            <a:off x="610263" y="7637668"/>
            <a:ext cx="16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spc="-10" dirty="0">
                <a:solidFill>
                  <a:srgbClr val="262261"/>
                </a:solidFill>
                <a:latin typeface="DM Sans 14pt"/>
                <a:cs typeface="DM Sans 14pt"/>
              </a:rPr>
              <a:t>Diabetic Retinopathy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8AB84C-292C-89EC-6BB8-609FF253A009}"/>
              </a:ext>
            </a:extLst>
          </p:cNvPr>
          <p:cNvSpPr txBox="1"/>
          <p:nvPr/>
        </p:nvSpPr>
        <p:spPr>
          <a:xfrm>
            <a:off x="3625850" y="7605857"/>
            <a:ext cx="3313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800" b="1" spc="-10" dirty="0">
                <a:solidFill>
                  <a:srgbClr val="2BA8DA"/>
                </a:solidFill>
                <a:latin typeface="DM Sans 14pt"/>
                <a:cs typeface="DM Sans 14pt"/>
              </a:rPr>
              <a:t>Moderate to High</a:t>
            </a:r>
            <a:endParaRPr lang="en-US" sz="2800" dirty="0">
              <a:solidFill>
                <a:srgbClr val="2BA8DA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B942353-46F2-EAB9-6060-D48856B6A4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29" y="2877955"/>
            <a:ext cx="813600" cy="813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4B75D2E-FB67-EAC9-7B4B-1E113F2E45D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6333" b="-6698"/>
          <a:stretch/>
        </p:blipFill>
        <p:spPr>
          <a:xfrm>
            <a:off x="4079504" y="8159832"/>
            <a:ext cx="2595600" cy="13670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C8EA7FB-4DCD-49C7-A51B-CDDF0FFEEC4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29" y="7554033"/>
            <a:ext cx="813600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99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</TotalTime>
  <Words>90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DM Sans 14pt</vt:lpstr>
      <vt:lpstr>DM Sans 14pt Medium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SUGAR GENETICS final copy</dc:title>
  <dc:creator>GenepoweRx</dc:creator>
  <cp:lastModifiedBy>Manjari K</cp:lastModifiedBy>
  <cp:revision>28</cp:revision>
  <dcterms:created xsi:type="dcterms:W3CDTF">2024-11-15T10:58:41Z</dcterms:created>
  <dcterms:modified xsi:type="dcterms:W3CDTF">2024-12-10T08:42:02Z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2024-11-14T00:00:00Z</vt:filetime>
  </property>
  <property fmtid="{D5CDD505-2E9C-101B-9397-08002B2CF9AE}" pid="3" name="Creator">
    <vt:lpwstr>Adobe Illustrator 29.0 (Macintosh)</vt:lpwstr>
  </property>
  <property fmtid="{D5CDD505-2E9C-101B-9397-08002B2CF9AE}" pid="4" name="GTS_PDFXVersion">
    <vt:lpwstr>PDF/X-4</vt:lpwstr>
  </property>
  <property fmtid="{D5CDD505-2E9C-101B-9397-08002B2CF9AE}" pid="5" name="LastSaved">
    <vt:filetime>2024-11-15T00:00:00Z</vt:filetime>
  </property>
  <property fmtid="{D5CDD505-2E9C-101B-9397-08002B2CF9AE}" pid="6" name="Producer">
    <vt:lpwstr>Adobe PDF library 17.00</vt:lpwstr>
  </property>
</Properties>
</file>